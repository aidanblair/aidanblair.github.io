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1" r:id="rId1"/>
    <p:sldMasterId id="2147483734" r:id="rId2"/>
  </p:sldMasterIdLst>
  <p:notesMasterIdLst>
    <p:notesMasterId r:id="rId25"/>
  </p:notesMasterIdLst>
  <p:handoutMasterIdLst>
    <p:handoutMasterId r:id="rId26"/>
  </p:handoutMasterIdLst>
  <p:sldIdLst>
    <p:sldId id="256" r:id="rId3"/>
    <p:sldId id="789" r:id="rId4"/>
    <p:sldId id="790" r:id="rId5"/>
    <p:sldId id="791" r:id="rId6"/>
    <p:sldId id="814" r:id="rId7"/>
    <p:sldId id="792" r:id="rId8"/>
    <p:sldId id="794" r:id="rId9"/>
    <p:sldId id="812" r:id="rId10"/>
    <p:sldId id="797" r:id="rId11"/>
    <p:sldId id="815" r:id="rId12"/>
    <p:sldId id="799" r:id="rId13"/>
    <p:sldId id="801" r:id="rId14"/>
    <p:sldId id="802" r:id="rId15"/>
    <p:sldId id="803" r:id="rId16"/>
    <p:sldId id="804" r:id="rId17"/>
    <p:sldId id="810" r:id="rId18"/>
    <p:sldId id="811" r:id="rId19"/>
    <p:sldId id="809" r:id="rId20"/>
    <p:sldId id="704" r:id="rId21"/>
    <p:sldId id="798" r:id="rId22"/>
    <p:sldId id="813" r:id="rId23"/>
    <p:sldId id="788" r:id="rId24"/>
  </p:sldIdLst>
  <p:sldSz cx="9144000" cy="5143500" type="screen16x9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22" autoAdjust="0"/>
  </p:normalViewPr>
  <p:slideViewPr>
    <p:cSldViewPr snapToGrid="0" snapToObjects="1">
      <p:cViewPr varScale="1">
        <p:scale>
          <a:sx n="113" d="100"/>
          <a:sy n="113" d="100"/>
        </p:scale>
        <p:origin x="614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FDB4D2-33A1-421C-9335-445368AF3B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D267C7-AFA9-4F14-A8A0-B66A1DDB02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CA536-EA16-4783-BE4F-A71E387FBAEC}" type="datetimeFigureOut">
              <a:rPr lang="en-GB" smtClean="0"/>
              <a:t>22/11/2022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365DA-B8E4-425D-B8B0-CFB30189DA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BB58E-7DC8-4D16-8735-57484CAD2C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F493B-61B4-4528-A511-9C0EB97980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82032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68F231A7-AFC7-3A49-BD72-361BDACE8566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1425"/>
            <a:ext cx="5949950" cy="3348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945659" cy="498055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6"/>
            <a:ext cx="2945659" cy="498055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6AE1479B-3581-2145-8D4B-E724EEA7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867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5248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commons.wikimedia.org/wiki/File:Bullet-red.png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-m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727655" y="2027015"/>
            <a:ext cx="5833801" cy="1125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7655" y="3444762"/>
            <a:ext cx="4439073" cy="931069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0220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-fema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27655" y="2027015"/>
            <a:ext cx="5833801" cy="1125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7655" y="3444762"/>
            <a:ext cx="4439073" cy="931069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352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-female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27655" y="2027015"/>
            <a:ext cx="5833801" cy="1125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7655" y="3444762"/>
            <a:ext cx="4439073" cy="931069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4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-texture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727655" y="438254"/>
            <a:ext cx="5833801" cy="1125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7655" y="1890329"/>
            <a:ext cx="4439073" cy="931069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1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-textur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727655" y="438254"/>
            <a:ext cx="5833801" cy="1125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7655" y="1890329"/>
            <a:ext cx="4439073" cy="931069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9261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-texture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727655" y="438254"/>
            <a:ext cx="5833801" cy="1125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7655" y="1890329"/>
            <a:ext cx="4439073" cy="931069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345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p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447273"/>
          </a:xfrm>
          <a:prstGeom prst="rect">
            <a:avLst/>
          </a:prstGeom>
        </p:spPr>
        <p:txBody>
          <a:bodyPr vert="horz"/>
          <a:lstStyle>
            <a:lvl1pPr>
              <a:lnSpc>
                <a:spcPts val="2400"/>
              </a:lnSpc>
              <a:spcBef>
                <a:spcPts val="1000"/>
              </a:spcBef>
              <a:spcAft>
                <a:spcPts val="1000"/>
              </a:spcAft>
              <a:defRPr sz="2800" b="1" i="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95250" y="4629150"/>
            <a:ext cx="1587500" cy="447273"/>
          </a:xfrm>
          <a:prstGeom prst="rect">
            <a:avLst/>
          </a:prstGeom>
        </p:spPr>
        <p:txBody>
          <a:bodyPr vert="horz"/>
          <a:lstStyle>
            <a:lvl1pPr algn="l" defTabSz="457200" rtl="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1000"/>
              </a:spcAft>
              <a:buNone/>
              <a:defRPr sz="3200" b="1" i="0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Slide Number </a:t>
            </a:r>
            <a:fld id="{5A1867E9-5F39-45BA-9F21-5A8D45C7E4AC}" type="slidenum">
              <a:rPr lang="en-US" sz="1200" smtClean="0"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84023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 userDrawn="1"/>
        </p:nvSpPr>
        <p:spPr>
          <a:xfrm>
            <a:off x="95250" y="4629150"/>
            <a:ext cx="1587500" cy="447273"/>
          </a:xfrm>
          <a:prstGeom prst="rect">
            <a:avLst/>
          </a:prstGeom>
        </p:spPr>
        <p:txBody>
          <a:bodyPr vert="horz"/>
          <a:lstStyle>
            <a:lvl1pPr algn="l" defTabSz="457200" rtl="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1000"/>
              </a:spcAft>
              <a:buNone/>
              <a:defRPr sz="3200" b="1" i="0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Slide Number </a:t>
            </a:r>
            <a:fld id="{5A1867E9-5F39-45BA-9F21-5A8D45C7E4AC}" type="slidenum">
              <a:rPr lang="en-US" sz="1200" smtClean="0"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56106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447273"/>
          </a:xfrm>
          <a:prstGeom prst="rect">
            <a:avLst/>
          </a:prstGeom>
        </p:spPr>
        <p:txBody>
          <a:bodyPr vert="horz"/>
          <a:lstStyle>
            <a:lvl1pPr>
              <a:lnSpc>
                <a:spcPts val="2400"/>
              </a:lnSpc>
              <a:spcBef>
                <a:spcPts val="1000"/>
              </a:spcBef>
              <a:spcAft>
                <a:spcPts val="1000"/>
              </a:spcAft>
              <a:defRPr sz="2800" b="1" i="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711201"/>
            <a:ext cx="8229600" cy="3352800"/>
          </a:xfrm>
          <a:prstGeom prst="rect">
            <a:avLst/>
          </a:prstGeom>
        </p:spPr>
        <p:txBody>
          <a:bodyPr vert="horz"/>
          <a:lstStyle>
            <a:lvl1pPr marL="540000" indent="-54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 sz="2400">
                <a:solidFill>
                  <a:schemeClr val="tx2"/>
                </a:solidFill>
              </a:defRPr>
            </a:lvl1pPr>
            <a:lvl2pPr marL="804863" indent="-35877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Tx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  <a:defRPr sz="2200">
                <a:solidFill>
                  <a:schemeClr val="tx2"/>
                </a:solidFill>
                <a:latin typeface="Helvetica LT Std Light" panose="020B0403020202020204" pitchFamily="34" charset="0"/>
              </a:defRPr>
            </a:lvl2pPr>
            <a:lvl3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3pPr>
            <a:lvl4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4pPr>
            <a:lvl5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 </a:t>
            </a:r>
            <a:r>
              <a:rPr lang="en-US" dirty="0" err="1"/>
              <a:t>sdfsf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 err="1"/>
              <a:t>asdas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 userDrawn="1"/>
        </p:nvSpPr>
        <p:spPr>
          <a:xfrm>
            <a:off x="95250" y="4629150"/>
            <a:ext cx="1587500" cy="447273"/>
          </a:xfrm>
          <a:prstGeom prst="rect">
            <a:avLst/>
          </a:prstGeom>
        </p:spPr>
        <p:txBody>
          <a:bodyPr vert="horz"/>
          <a:lstStyle>
            <a:lvl1pPr algn="l" defTabSz="457200" rtl="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1000"/>
              </a:spcAft>
              <a:buNone/>
              <a:defRPr sz="3200" b="1" i="0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Slide Number </a:t>
            </a:r>
            <a:fld id="{5A1867E9-5F39-45BA-9F21-5A8D45C7E4AC}" type="slidenum">
              <a:rPr lang="en-US" sz="1200" smtClean="0"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3266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889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4741864" y="321277"/>
            <a:ext cx="3978275" cy="3213071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741863" y="3704540"/>
            <a:ext cx="3978275" cy="503354"/>
          </a:xfrm>
          <a:prstGeom prst="rect">
            <a:avLst/>
          </a:prstGeom>
        </p:spPr>
        <p:txBody>
          <a:bodyPr vert="horz"/>
          <a:lstStyle>
            <a:lvl1pPr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tx2"/>
                </a:solidFill>
              </a:defRPr>
            </a:lvl1pPr>
            <a:lvl2pPr marL="182563" indent="-182563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2pPr>
            <a:lvl3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3pPr>
            <a:lvl4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4pPr>
            <a:lvl5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AU" dirty="0"/>
              <a:t>Click to add caption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1" y="329397"/>
            <a:ext cx="4001911" cy="733831"/>
          </a:xfrm>
          <a:prstGeom prst="rect">
            <a:avLst/>
          </a:prstGeom>
        </p:spPr>
        <p:txBody>
          <a:bodyPr vert="horz"/>
          <a:lstStyle>
            <a:lvl1pPr>
              <a:lnSpc>
                <a:spcPts val="2400"/>
              </a:lnSpc>
              <a:spcBef>
                <a:spcPts val="1000"/>
              </a:spcBef>
              <a:spcAft>
                <a:spcPts val="1000"/>
              </a:spcAft>
              <a:defRPr sz="1800"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1" y="1228564"/>
            <a:ext cx="4001911" cy="2993039"/>
          </a:xfrm>
          <a:prstGeom prst="rect">
            <a:avLst/>
          </a:prstGeom>
        </p:spPr>
        <p:txBody>
          <a:bodyPr vert="horz"/>
          <a:lstStyle>
            <a:lvl1pPr>
              <a:lnSpc>
                <a:spcPts val="19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chemeClr val="tx2"/>
                </a:solidFill>
              </a:defRPr>
            </a:lvl1pPr>
            <a:lvl2pPr marL="182563" indent="-182563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2pPr>
            <a:lvl3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3pPr>
            <a:lvl4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4pPr>
            <a:lvl5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5594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4741864" y="321277"/>
            <a:ext cx="3978275" cy="3061726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741863" y="3600763"/>
            <a:ext cx="3978275" cy="503354"/>
          </a:xfrm>
          <a:prstGeom prst="rect">
            <a:avLst/>
          </a:prstGeom>
        </p:spPr>
        <p:txBody>
          <a:bodyPr vert="horz"/>
          <a:lstStyle>
            <a:lvl1pPr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tx2"/>
                </a:solidFill>
              </a:defRPr>
            </a:lvl1pPr>
            <a:lvl2pPr marL="182563" indent="-182563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2pPr>
            <a:lvl3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3pPr>
            <a:lvl4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4pPr>
            <a:lvl5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AU" dirty="0"/>
              <a:t>Click to add caption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19445" y="321277"/>
            <a:ext cx="3978275" cy="3061726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19444" y="3600763"/>
            <a:ext cx="3978275" cy="503354"/>
          </a:xfrm>
          <a:prstGeom prst="rect">
            <a:avLst/>
          </a:prstGeom>
        </p:spPr>
        <p:txBody>
          <a:bodyPr vert="horz"/>
          <a:lstStyle>
            <a:lvl1pPr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tx2"/>
                </a:solidFill>
              </a:defRPr>
            </a:lvl1pPr>
            <a:lvl2pPr marL="182563" indent="-182563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2pPr>
            <a:lvl3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3pPr>
            <a:lvl4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4pPr>
            <a:lvl5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AU" dirty="0"/>
              <a:t>Click to add caption</a:t>
            </a:r>
          </a:p>
        </p:txBody>
      </p:sp>
    </p:spTree>
    <p:extLst>
      <p:ext uri="{BB962C8B-B14F-4D97-AF65-F5344CB8AC3E}">
        <p14:creationId xmlns:p14="http://schemas.microsoft.com/office/powerpoint/2010/main" val="1566919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6706293" y="316471"/>
            <a:ext cx="2013845" cy="3734231"/>
          </a:xfrm>
          <a:prstGeom prst="rect">
            <a:avLst/>
          </a:prstGeom>
        </p:spPr>
        <p:txBody>
          <a:bodyPr vert="horz"/>
          <a:lstStyle>
            <a:lvl1pPr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tx2"/>
                </a:solidFill>
              </a:defRPr>
            </a:lvl1pPr>
            <a:lvl2pPr marL="182563" indent="-182563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2pPr>
            <a:lvl3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3pPr>
            <a:lvl4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4pPr>
            <a:lvl5pPr>
              <a:spcBef>
                <a:spcPts val="400"/>
              </a:spcBef>
              <a:spcAft>
                <a:spcPts val="400"/>
              </a:spcAft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AU" dirty="0"/>
              <a:t>Click to add caption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19445" y="321277"/>
            <a:ext cx="5907023" cy="372942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278631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52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14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954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570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11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12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40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45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57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8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373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32" r:id="rId3"/>
    <p:sldLayoutId id="2147483724" r:id="rId4"/>
    <p:sldLayoutId id="2147483725" r:id="rId5"/>
    <p:sldLayoutId id="2147483731" r:id="rId6"/>
    <p:sldLayoutId id="2147483726" r:id="rId7"/>
    <p:sldLayoutId id="2147483746" r:id="rId8"/>
    <p:sldLayoutId id="2147483727" r:id="rId9"/>
    <p:sldLayoutId id="2147483733" r:id="rId10"/>
    <p:sldLayoutId id="2147483728" r:id="rId11"/>
    <p:sldLayoutId id="2147483729" r:id="rId12"/>
    <p:sldLayoutId id="2147483730" r:id="rId13"/>
  </p:sldLayoutIdLst>
  <p:hf hdr="0" ftr="0" dt="0"/>
  <p:txStyles>
    <p:titleStyle>
      <a:lvl1pPr algn="l" defTabSz="457200" rtl="0" eaLnBrk="1" latinLnBrk="0" hangingPunct="1">
        <a:spcBef>
          <a:spcPts val="20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ts val="4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B803B-F4D8-C149-86AF-FA1C1A659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28467" y="149013"/>
            <a:ext cx="8817058" cy="1524000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FFFF00"/>
                </a:solidFill>
              </a:rPr>
              <a:t>Distributed Multi-Sensor Control for Multi-Target Tracking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4550" y="1730121"/>
            <a:ext cx="7166902" cy="1583722"/>
          </a:xfrm>
        </p:spPr>
        <p:txBody>
          <a:bodyPr/>
          <a:lstStyle/>
          <a:p>
            <a:r>
              <a:rPr lang="en-AU" dirty="0"/>
              <a:t>22/11/2022</a:t>
            </a:r>
          </a:p>
          <a:p>
            <a:r>
              <a:rPr lang="en-AU" dirty="0"/>
              <a:t>Aidan Blair, </a:t>
            </a:r>
            <a:r>
              <a:rPr lang="en-AU" dirty="0" err="1"/>
              <a:t>Amirali</a:t>
            </a:r>
            <a:r>
              <a:rPr lang="en-AU" dirty="0"/>
              <a:t> </a:t>
            </a:r>
            <a:r>
              <a:rPr lang="en-AU" dirty="0" err="1"/>
              <a:t>Khodadadian</a:t>
            </a:r>
            <a:r>
              <a:rPr lang="en-AU" dirty="0"/>
              <a:t> </a:t>
            </a:r>
            <a:r>
              <a:rPr lang="en-AU" dirty="0" err="1"/>
              <a:t>Gostar</a:t>
            </a:r>
            <a:r>
              <a:rPr lang="en-AU" dirty="0"/>
              <a:t>, Ruwan Tennakoon, Alireza Bab-</a:t>
            </a:r>
            <a:r>
              <a:rPr lang="en-AU" dirty="0" err="1"/>
              <a:t>Hadiashar</a:t>
            </a:r>
            <a:r>
              <a:rPr lang="en-AU" dirty="0"/>
              <a:t>, </a:t>
            </a:r>
            <a:r>
              <a:rPr lang="en-AU" dirty="0" err="1"/>
              <a:t>Xiaodong</a:t>
            </a:r>
            <a:r>
              <a:rPr lang="en-AU" dirty="0"/>
              <a:t> Li, Jennifer Palmer and Reza </a:t>
            </a:r>
            <a:r>
              <a:rPr lang="en-AU" dirty="0" err="1"/>
              <a:t>Hoseinnezhad</a:t>
            </a:r>
            <a:endParaRPr lang="en-AU" dirty="0"/>
          </a:p>
          <a:p>
            <a:r>
              <a:rPr lang="en-AU" i="1" dirty="0"/>
              <a:t>RMIT University, Melbourne, Australia</a:t>
            </a:r>
          </a:p>
        </p:txBody>
      </p:sp>
    </p:spTree>
    <p:extLst>
      <p:ext uri="{BB962C8B-B14F-4D97-AF65-F5344CB8AC3E}">
        <p14:creationId xmlns:p14="http://schemas.microsoft.com/office/powerpoint/2010/main" val="297940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BFBA5-6BE7-5DCA-8665-66C4392B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400" dirty="0"/>
              <a:t>Multi-Sensor, Multi-Target Tracking 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4C1DD-5AB1-B031-F6A8-25B283249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sz="2000" dirty="0"/>
              <a:t>Aim is to track the states of multiple targets using multiple sensors with limited </a:t>
            </a:r>
            <a:r>
              <a:rPr lang="en-AU" sz="2000" dirty="0" err="1"/>
              <a:t>FoV</a:t>
            </a:r>
            <a:r>
              <a:rPr lang="en-AU" sz="2000" dirty="0"/>
              <a:t>.</a:t>
            </a:r>
          </a:p>
          <a:p>
            <a:r>
              <a:rPr lang="en-AU" sz="2000" dirty="0"/>
              <a:t>Many domains: Autonomous cars, drones, on water/underwater vehicles, satellites.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B55837-DBB3-BE39-CB8A-B1A6806C8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670" y="2752615"/>
            <a:ext cx="3186370" cy="239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381A948-D225-0B2F-AF21-12C7B101B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040" y="2752616"/>
            <a:ext cx="3412913" cy="239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3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3F85-9011-739A-1397-F477DD5A9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Multi-Sensor Control 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C2E86-F878-55C9-C127-F328ADB825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sz="2000" dirty="0"/>
              <a:t>Aim to move the sensors in a way that they get the best measurements to accurately track the targets.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Quality of actions is measured either by information gain or optimizing a heuristic objective function.</a:t>
            </a:r>
          </a:p>
        </p:txBody>
      </p:sp>
      <p:pic>
        <p:nvPicPr>
          <p:cNvPr id="4" name="Content Placeholder 17" descr="A picture containing chart&#10;&#10;Description automatically generated">
            <a:extLst>
              <a:ext uri="{FF2B5EF4-FFF2-40B4-BE49-F238E27FC236}">
                <a16:creationId xmlns:a16="http://schemas.microsoft.com/office/drawing/2014/main" id="{795C76E6-D3DA-C514-53A3-D0F1FF8F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387" y="1490133"/>
            <a:ext cx="3693226" cy="220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7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5664-2EE9-12FE-8166-2D3F19C5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80E9C-5EFB-FDEA-616D-014BCB6692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To control a distributed &amp; dynamic network of mobile sensors to accurately track a time-varying number of mobile targets.</a:t>
            </a:r>
          </a:p>
        </p:txBody>
      </p:sp>
    </p:spTree>
    <p:extLst>
      <p:ext uri="{BB962C8B-B14F-4D97-AF65-F5344CB8AC3E}">
        <p14:creationId xmlns:p14="http://schemas.microsoft.com/office/powerpoint/2010/main" val="369972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EB78-0421-A8D6-CF8A-549D8408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Problem Formulation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3B817-5648-3241-D31E-A3458E8040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The problem has been formulated as a distributed multi-sensor control problem using RFS filters for multi-target tracking and distributed information fusion.</a:t>
            </a:r>
          </a:p>
        </p:txBody>
      </p:sp>
    </p:spTree>
    <p:extLst>
      <p:ext uri="{BB962C8B-B14F-4D97-AF65-F5344CB8AC3E}">
        <p14:creationId xmlns:p14="http://schemas.microsoft.com/office/powerpoint/2010/main" val="3877008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B9CF-41FD-9FF3-94F6-DB979EEF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LMB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D2D2D13-E96B-0D58-C7FF-4F7D5C50B35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AU" sz="2000" dirty="0"/>
                  <a:t>The Random Finite Set (RFS) framework for multi-target tracking is used, specifically the </a:t>
                </a:r>
                <a:r>
                  <a:rPr lang="en-AU" sz="2000" dirty="0" err="1"/>
                  <a:t>Labeled</a:t>
                </a:r>
                <a:r>
                  <a:rPr lang="en-AU" sz="2000" dirty="0"/>
                  <a:t> Multi-Bernoulli (LMB) filter.</a:t>
                </a:r>
              </a:p>
              <a:p>
                <a:r>
                  <a:rPr lang="en-AU" sz="2000" dirty="0"/>
                  <a:t>LMB density: </a:t>
                </a:r>
                <a14:m>
                  <m:oMath xmlns:m="http://schemas.openxmlformats.org/officeDocument/2006/math">
                    <m:r>
                      <a:rPr lang="el-G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AU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AU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sz="2000" b="0" i="1" smtClean="0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AU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AU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sz="2000" b="0" i="1" smtClean="0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</m:e>
                                    </m:d>
                                  </m:sup>
                                </m:sSup>
                                <m:d>
                                  <m:dPr>
                                    <m:ctrlPr>
                                      <a:rPr lang="en-AU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20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b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ℓ∈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𝕃</m:t>
                        </m:r>
                      </m:sub>
                    </m:sSub>
                  </m:oMath>
                </a14:m>
                <a:r>
                  <a:rPr lang="en-AU" sz="2000" dirty="0"/>
                  <a:t>, each potential target is represented by a Bernoulli existence probability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AU" sz="2000" dirty="0"/>
                  <a:t> a spatial distribution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AU" sz="2000" dirty="0"/>
                  <a:t>, and a label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AU" sz="2000" dirty="0"/>
                  <a:t>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D2D2D13-E96B-0D58-C7FF-4F7D5C50B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67" t="-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96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FBF2-2426-F376-C4F8-D4403194A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Prediction &amp; Update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C162DD-62DC-222A-67F2-1D2E4AA1304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AU" sz="2000" dirty="0"/>
                  <a:t>The parameters for the next time step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sz="2000" dirty="0"/>
                  <a:t> are predicted using the Chapman-Kolmogorov equation:</a:t>
                </a:r>
              </a:p>
              <a:p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The parameters for the next time step are updated using the multi-object Bayes’ rule: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C162DD-62DC-222A-67F2-1D2E4AA13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67" t="-909" r="-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30AAEA0-9454-0BAC-39FA-7CB509F14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955" y="3314467"/>
            <a:ext cx="5578087" cy="6754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D241D8-46C5-FDBF-6F41-87F1FE937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945" y="1543431"/>
            <a:ext cx="6850186" cy="58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02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E296-70BC-F342-7050-90D00E49D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Multi-Sensor Control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F664C55-1242-797C-C5CF-23747602AD1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AU" sz="2000" dirty="0"/>
                  <a:t>Each sensor has a number of possible sensor control commands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𝕌</m:t>
                    </m:r>
                  </m:oMath>
                </a14:m>
                <a:r>
                  <a:rPr lang="en-AU" sz="2000" dirty="0"/>
                  <a:t>.</a:t>
                </a:r>
              </a:p>
              <a:p>
                <a:r>
                  <a:rPr lang="en-AU" sz="2000" dirty="0"/>
                  <a:t>A multi-sensor control command is formed as a tuple of single-sensor control commands,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𝔲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𝕌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AU" sz="2000" dirty="0"/>
                  <a:t>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F664C55-1242-797C-C5CF-23747602AD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67" t="-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DB706D2-65D1-6F94-A57C-7AC6D29E8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7601"/>
            <a:ext cx="9144000" cy="212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6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1708-3E52-86C4-F21A-626CD8639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Proposed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889D36-E467-9ECA-1AD9-E22F24BAA59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AU" sz="2000" dirty="0"/>
                  <a:t>Each sensor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AU" sz="2000" dirty="0"/>
                  <a:t> looks at local sensor </a:t>
                </a:r>
                <a:r>
                  <a:rPr lang="en-AU" sz="2000" dirty="0" err="1"/>
                  <a:t>neighborhood</a:t>
                </a:r>
                <a:r>
                  <a:rPr lang="en-AU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𝒩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AU" sz="2000" dirty="0"/>
                  <a:t>.</a:t>
                </a:r>
              </a:p>
              <a:p>
                <a:r>
                  <a:rPr lang="en-AU" sz="2000" dirty="0"/>
                  <a:t>Sensors calculate best multi-sensor control command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𝔲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AU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AU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i="1">
                                <a:latin typeface="Cambria Math" panose="02040503050406030204" pitchFamily="18" charset="0"/>
                              </a:rPr>
                              <m:t>𝒩</m:t>
                            </m:r>
                          </m:e>
                          <m:sup>
                            <m:r>
                              <a:rPr lang="en-AU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AU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sub>
                    </m:sSub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000" dirty="0"/>
                  <a:t> for </a:t>
                </a:r>
                <a:r>
                  <a:rPr lang="en-AU" sz="2000" dirty="0" err="1"/>
                  <a:t>neighborhood</a:t>
                </a:r>
                <a:r>
                  <a:rPr lang="en-AU" sz="2000" dirty="0"/>
                  <a:t>, using coordinate descent to quickly optimize solutions at each sensor.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889D36-E467-9ECA-1AD9-E22F24BAA5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67" t="-5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9344EDA-0ED5-7691-2DE5-93EF2FF07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19" y="2336800"/>
            <a:ext cx="2086847" cy="21748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B908EF-0005-09F2-8BA7-DCEF5BC3B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510" y="3658303"/>
            <a:ext cx="3283544" cy="40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92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F046-C2C1-A975-DF5F-BD0D3C56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71308-F1C9-DA0E-DD8A-721563D35A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sz="2000" dirty="0"/>
              <a:t>Each sensor communicates to </a:t>
            </a:r>
            <a:r>
              <a:rPr lang="en-AU" sz="2000" dirty="0" err="1"/>
              <a:t>neighbors</a:t>
            </a:r>
            <a:r>
              <a:rPr lang="en-AU" sz="2000" dirty="0"/>
              <a:t> the single-sensor control command they calculated for the </a:t>
            </a:r>
            <a:r>
              <a:rPr lang="en-AU" sz="2000" dirty="0" err="1"/>
              <a:t>neighbor</a:t>
            </a:r>
            <a:r>
              <a:rPr lang="en-AU" sz="2000" dirty="0"/>
              <a:t>, and the corresponding objective function value.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The sensor control command with the highest objective function value is chosen.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1E6B5-F92A-A37F-0AC8-B53EB23E1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761" y="1497310"/>
            <a:ext cx="2795853" cy="214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084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391C-43F8-7E03-0857-A579109A7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Coordinate Descent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51C4E-C2F3-4022-87E4-B7C7A249A4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sz="2000" dirty="0"/>
              <a:t>Similar to gradient descent, except only a single parameter is optimized at a time.</a:t>
            </a:r>
          </a:p>
          <a:p>
            <a:r>
              <a:rPr lang="en-AU" sz="2000" dirty="0"/>
              <a:t>Suitable for optimizing a multi-sensor control command, as each single-sensor control command is discrete.</a:t>
            </a:r>
          </a:p>
        </p:txBody>
      </p:sp>
      <p:pic>
        <p:nvPicPr>
          <p:cNvPr id="1026" name="Picture 2" descr="Introduction to Coordinate Descent using Least Squares Regression adeveloperdiary.com">
            <a:extLst>
              <a:ext uri="{FF2B5EF4-FFF2-40B4-BE49-F238E27FC236}">
                <a16:creationId xmlns:a16="http://schemas.microsoft.com/office/drawing/2014/main" id="{57C1EEA8-0F89-75AC-AF3B-047DB5CAE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80" y="2116520"/>
            <a:ext cx="3169920" cy="3026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07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6E8A-E656-C219-4143-05C115BC6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Kullback-Leibler</a:t>
            </a:r>
            <a:r>
              <a:rPr lang="en-AU" dirty="0"/>
              <a:t> Divergence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DF611-E86D-B41B-50C0-6330F85F8B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sz="2000" dirty="0"/>
              <a:t>The </a:t>
            </a:r>
            <a:r>
              <a:rPr lang="en-AU" sz="2000" dirty="0" err="1"/>
              <a:t>Kullback-Leibler</a:t>
            </a:r>
            <a:r>
              <a:rPr lang="en-AU" sz="2000" dirty="0"/>
              <a:t> Divergence (KLD) is a statistical measure for the difference between two distributions.</a:t>
            </a:r>
            <a:r>
              <a:rPr lang="en-AU" sz="2000" baseline="30000" dirty="0"/>
              <a:t>[1]</a:t>
            </a:r>
          </a:p>
          <a:p>
            <a:endParaRPr lang="en-AU" sz="2000" dirty="0"/>
          </a:p>
          <a:p>
            <a:pPr marL="0" indent="0">
              <a:buNone/>
            </a:pPr>
            <a:endParaRPr lang="en-AU" sz="2000" dirty="0"/>
          </a:p>
          <a:p>
            <a:r>
              <a:rPr lang="en-AU" sz="2000" dirty="0"/>
              <a:t>               denotes the set integral from FISST.</a:t>
            </a:r>
            <a:r>
              <a:rPr lang="en-AU" sz="2000" baseline="30000" dirty="0"/>
              <a:t>[2]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254AA-5A0E-E46E-6B05-58B4AA924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778" y="1436562"/>
            <a:ext cx="5320444" cy="7467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F1A031-CBCC-545D-820B-137CB9A93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75" y="2302740"/>
            <a:ext cx="1237071" cy="6059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73B6AD-6C20-29EE-F15C-2A73467CD46F}"/>
              </a:ext>
            </a:extLst>
          </p:cNvPr>
          <p:cNvSpPr txBox="1"/>
          <p:nvPr/>
        </p:nvSpPr>
        <p:spPr>
          <a:xfrm>
            <a:off x="3013742" y="4705388"/>
            <a:ext cx="58904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solidFill>
                  <a:srgbClr val="FFFF00"/>
                </a:solidFill>
              </a:rPr>
              <a:t>[1] </a:t>
            </a:r>
            <a:r>
              <a:rPr lang="en-AU" sz="1100" dirty="0" err="1">
                <a:solidFill>
                  <a:srgbClr val="FFFF00"/>
                </a:solidFill>
              </a:rPr>
              <a:t>Kullback</a:t>
            </a:r>
            <a:r>
              <a:rPr lang="en-AU" sz="1100" dirty="0">
                <a:solidFill>
                  <a:srgbClr val="FFFF00"/>
                </a:solidFill>
              </a:rPr>
              <a:t>, S. &amp; </a:t>
            </a:r>
            <a:r>
              <a:rPr lang="en-AU" sz="1100" dirty="0" err="1">
                <a:solidFill>
                  <a:srgbClr val="FFFF00"/>
                </a:solidFill>
              </a:rPr>
              <a:t>Leibler</a:t>
            </a:r>
            <a:r>
              <a:rPr lang="en-AU" sz="1100" dirty="0">
                <a:solidFill>
                  <a:srgbClr val="FFFF00"/>
                </a:solidFill>
              </a:rPr>
              <a:t>, R.A., </a:t>
            </a:r>
            <a:r>
              <a:rPr lang="en-AU" sz="1100" i="1" dirty="0">
                <a:solidFill>
                  <a:srgbClr val="FFFF00"/>
                </a:solidFill>
              </a:rPr>
              <a:t>On information and sufficiency</a:t>
            </a:r>
            <a:r>
              <a:rPr lang="en-AU" sz="1100" dirty="0">
                <a:solidFill>
                  <a:srgbClr val="FFFF00"/>
                </a:solidFill>
              </a:rPr>
              <a:t>, 1951.</a:t>
            </a:r>
          </a:p>
          <a:p>
            <a:r>
              <a:rPr lang="en-AU" sz="1100" dirty="0">
                <a:solidFill>
                  <a:srgbClr val="FFFF00"/>
                </a:solidFill>
              </a:rPr>
              <a:t>[2] Mahler, R., </a:t>
            </a:r>
            <a:r>
              <a:rPr lang="en-AU" sz="1100" i="1" dirty="0">
                <a:solidFill>
                  <a:srgbClr val="FFFF00"/>
                </a:solidFill>
              </a:rPr>
              <a:t>Random-set approach to data fusion</a:t>
            </a:r>
            <a:r>
              <a:rPr lang="en-AU" sz="1100" dirty="0">
                <a:solidFill>
                  <a:srgbClr val="FFFF00"/>
                </a:solidFill>
              </a:rPr>
              <a:t>, 1994.</a:t>
            </a:r>
          </a:p>
        </p:txBody>
      </p:sp>
    </p:spTree>
    <p:extLst>
      <p:ext uri="{BB962C8B-B14F-4D97-AF65-F5344CB8AC3E}">
        <p14:creationId xmlns:p14="http://schemas.microsoft.com/office/powerpoint/2010/main" val="3768278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8F65B-8C31-D345-C875-48127324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231ADBA-8143-8521-8011-361F7ADBF31A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AU" sz="2000" dirty="0"/>
                  <a:t>The objective function used is the KLD between the local predicted density and the fusion of neighbourhood pseudo-updated densities.</a:t>
                </a:r>
              </a:p>
              <a:p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Searches the possible control commands of a single sensor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sz="2000" dirty="0"/>
                  <a:t> to find the command that maximizes the KLD, given the actions for the other sensors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AU" sz="2000" dirty="0"/>
                  <a:t> are fixed.</a:t>
                </a:r>
              </a:p>
              <a:p>
                <a:r>
                  <a:rPr lang="en-AU" sz="2000" dirty="0"/>
                  <a:t>Cycle through each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sz="2000" dirty="0"/>
                  <a:t>, repeat until convergence.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231ADBA-8143-8521-8011-361F7ADBF3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67" t="-909" r="-1481" b="-61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6E6D95C-3CB3-DB9B-6D0A-B54E72160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68" y="1846915"/>
            <a:ext cx="8472864" cy="54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86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88DD-8AF3-8E01-DB19-C150E169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Simulation Scenario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DC200-D487-E1F4-9899-D69C7B37C2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BDB5A052-3BF2-3D76-E936-5C939F839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604" y="1134423"/>
            <a:ext cx="4362396" cy="32717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CE0842-19ED-0393-E779-A8EAB8308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625" y="577608"/>
            <a:ext cx="2174354" cy="5484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2F7AE8-F701-377A-9D26-0E667CB0E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3489"/>
            <a:ext cx="4781604" cy="365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03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F5EFE-8D93-7C92-D24B-BEE6995CC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Scenario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91822-2994-E476-AF39-F74EE1787D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sz="2000" dirty="0"/>
              <a:t>Used Distributed Complementary Fusion</a:t>
            </a:r>
            <a:r>
              <a:rPr lang="en-AU" sz="2000" baseline="30000" dirty="0"/>
              <a:t>[3]</a:t>
            </a:r>
            <a:endParaRPr lang="en-AU" sz="2000" dirty="0"/>
          </a:p>
          <a:p>
            <a:r>
              <a:rPr lang="en-AU" sz="2000" dirty="0"/>
              <a:t>3 Possible Actions: Stationary, Rotate 22.5 deg Clockwise &amp; Rotate 22.5 deg Anti-Clockwise</a:t>
            </a:r>
          </a:p>
          <a:p>
            <a:r>
              <a:rPr lang="en-AU" sz="2000" dirty="0"/>
              <a:t>Accuracy measured by Optimal Sub-Pattern Assignment (OSPA) distance</a:t>
            </a:r>
            <a:r>
              <a:rPr lang="en-AU" sz="2000" baseline="30000" dirty="0"/>
              <a:t>[4]</a:t>
            </a:r>
            <a:r>
              <a:rPr lang="en-AU" sz="2000" dirty="0"/>
              <a:t>, composed of localization and cardinality errors.</a:t>
            </a:r>
          </a:p>
          <a:p>
            <a:r>
              <a:rPr lang="en-AU" sz="2000" dirty="0"/>
              <a:t>Use a particle filter approximation for LMB densities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1DD92B-64C9-39C0-12C2-488B915A674A}"/>
              </a:ext>
            </a:extLst>
          </p:cNvPr>
          <p:cNvSpPr txBox="1"/>
          <p:nvPr/>
        </p:nvSpPr>
        <p:spPr>
          <a:xfrm>
            <a:off x="1577280" y="4881890"/>
            <a:ext cx="7638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solidFill>
                  <a:srgbClr val="FFFF00"/>
                </a:solidFill>
              </a:rPr>
              <a:t>[4] </a:t>
            </a:r>
            <a:r>
              <a:rPr lang="en-AU" sz="1100" dirty="0" err="1">
                <a:solidFill>
                  <a:srgbClr val="FFFF00"/>
                </a:solidFill>
              </a:rPr>
              <a:t>Schuhmacher</a:t>
            </a:r>
            <a:r>
              <a:rPr lang="en-AU" sz="1100" dirty="0">
                <a:solidFill>
                  <a:srgbClr val="FFFF00"/>
                </a:solidFill>
              </a:rPr>
              <a:t>, D., Vo, B.-T. &amp; Vo, B.-N., </a:t>
            </a:r>
            <a:r>
              <a:rPr lang="en-AU" sz="1100" i="1" dirty="0">
                <a:solidFill>
                  <a:srgbClr val="FFFF00"/>
                </a:solidFill>
              </a:rPr>
              <a:t>A consistent metric for performance evaluation of multi-object filters</a:t>
            </a:r>
            <a:r>
              <a:rPr lang="en-AU" sz="1100" dirty="0">
                <a:solidFill>
                  <a:srgbClr val="FFFF00"/>
                </a:solidFill>
              </a:rPr>
              <a:t>, 2008.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56457-FB68-7555-50FB-C66C33C1EC54}"/>
              </a:ext>
            </a:extLst>
          </p:cNvPr>
          <p:cNvSpPr txBox="1"/>
          <p:nvPr/>
        </p:nvSpPr>
        <p:spPr>
          <a:xfrm>
            <a:off x="2586507" y="4720187"/>
            <a:ext cx="7638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solidFill>
                  <a:srgbClr val="FFFF00"/>
                </a:solidFill>
              </a:rPr>
              <a:t>[3] </a:t>
            </a:r>
            <a:r>
              <a:rPr lang="en-AU" sz="1100" dirty="0" err="1">
                <a:solidFill>
                  <a:srgbClr val="FFFF00"/>
                </a:solidFill>
              </a:rPr>
              <a:t>Klupacs</a:t>
            </a:r>
            <a:r>
              <a:rPr lang="en-AU" sz="1100" dirty="0">
                <a:solidFill>
                  <a:srgbClr val="FFFF00"/>
                </a:solidFill>
              </a:rPr>
              <a:t>, J. et al., </a:t>
            </a:r>
            <a:r>
              <a:rPr lang="en-AU" sz="1100" i="1" dirty="0">
                <a:solidFill>
                  <a:srgbClr val="FFFF00"/>
                </a:solidFill>
              </a:rPr>
              <a:t>Distributed Complementary Fusion for Connected Vehicles</a:t>
            </a:r>
            <a:r>
              <a:rPr lang="en-AU" sz="1100" dirty="0">
                <a:solidFill>
                  <a:srgbClr val="FFFF00"/>
                </a:solidFill>
              </a:rPr>
              <a:t>, 2022.</a:t>
            </a:r>
          </a:p>
        </p:txBody>
      </p:sp>
    </p:spTree>
    <p:extLst>
      <p:ext uri="{BB962C8B-B14F-4D97-AF65-F5344CB8AC3E}">
        <p14:creationId xmlns:p14="http://schemas.microsoft.com/office/powerpoint/2010/main" val="421452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E233-B3E3-AB13-BCFE-AEDC3337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Scenario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B8F09-5E92-E35A-6E02-159ABC9D32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17BA4-5726-D492-D85D-0DBCE3F4A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095"/>
            <a:ext cx="4572000" cy="3785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AD5662-96CD-9673-2A78-399CAF9D3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8579"/>
            <a:ext cx="4572000" cy="348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42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39A01-471B-B484-5512-3B0BBB7F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Scenario Results - OSPA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19EB6-35D1-FBE1-3B10-5882D25156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1C719F8-D4B0-B6D0-BE1E-143E0A8C0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359103"/>
              </p:ext>
            </p:extLst>
          </p:nvPr>
        </p:nvGraphicFramePr>
        <p:xfrm>
          <a:off x="0" y="825921"/>
          <a:ext cx="9144000" cy="3210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73425728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22483838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48689507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846024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OSPA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OSPA Localization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OSPA Cardinality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476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Fixed w/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27.0212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6.3738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20.6478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360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Independent Multi-Sensor Control w/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76.9432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1.3996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75.5436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15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Independent Multi-Sensor Control w/o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16.2745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5.6233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10.6512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221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accent6"/>
                          </a:solidFill>
                        </a:rPr>
                        <a:t>Multi-Sensor Control with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chemeClr val="accent6"/>
                          </a:solidFill>
                        </a:rPr>
                        <a:t>11.3912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chemeClr val="accent6"/>
                          </a:solidFill>
                        </a:rPr>
                        <a:t>4.7822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chemeClr val="accent6"/>
                          </a:solidFill>
                        </a:rPr>
                        <a:t>6.6090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991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021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399D-4C6F-1722-96EF-5865D6E0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5E928-FC12-ED9D-4902-210433BF9B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sz="2000" dirty="0"/>
              <a:t>A sensor control algorithm for a distributed &amp; dynamic sensor of networks for RFS based multi-target tracking applications has been developed.</a:t>
            </a:r>
          </a:p>
          <a:p>
            <a:r>
              <a:rPr lang="en-AU" sz="2000" dirty="0"/>
              <a:t>Areas to explore further: computationally cheaper methods and more complicated scenarios.</a:t>
            </a:r>
          </a:p>
        </p:txBody>
      </p:sp>
    </p:spTree>
    <p:extLst>
      <p:ext uri="{BB962C8B-B14F-4D97-AF65-F5344CB8AC3E}">
        <p14:creationId xmlns:p14="http://schemas.microsoft.com/office/powerpoint/2010/main" val="326943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41DE-ADA3-44B6-A5F5-EFA08525E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5" y="438254"/>
            <a:ext cx="5833801" cy="1125726"/>
          </a:xfrm>
        </p:spPr>
        <p:txBody>
          <a:bodyPr anchor="ctr">
            <a:normAutofit/>
          </a:bodyPr>
          <a:lstStyle/>
          <a:p>
            <a:r>
              <a:rPr lang="en-AU" dirty="0"/>
              <a:t>Thank you for listening!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C963F-9BF8-CB28-52E1-AE81677488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3933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0653-AC05-AA57-F8D8-871C007D7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Target Measurements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E562D1D-B1B4-15A4-47AB-C9C86ECBC6A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AU" sz="2000" dirty="0"/>
                  <a:t>Each sensor partially observes the multi-target state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𝕏</m:t>
                    </m:r>
                  </m:oMath>
                </a14:m>
                <a:r>
                  <a:rPr lang="en-AU" sz="2000" dirty="0"/>
                  <a:t>, returning a measurement set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AU" sz="2000" dirty="0"/>
                  <a:t>.</a:t>
                </a:r>
              </a:p>
              <a:p>
                <a:r>
                  <a:rPr lang="en-AU" sz="2000" dirty="0"/>
                  <a:t>Observation depends on sensor </a:t>
                </a:r>
                <a:r>
                  <a:rPr lang="en-AU" sz="2000" dirty="0" err="1"/>
                  <a:t>FoV</a:t>
                </a:r>
                <a:r>
                  <a:rPr lang="en-AU" sz="2000" dirty="0"/>
                  <a:t> and detection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AU" sz="2000" dirty="0"/>
                  <a:t>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E562D1D-B1B4-15A4-47AB-C9C86ECBC6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67" t="-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AF9C1B6-B119-670F-C29C-2CC4D9D5D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852" y="2069535"/>
            <a:ext cx="3918295" cy="307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47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10191-241D-F8F6-AB4D-B4F4D2C1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Distributed &amp; Dynamic Sensor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671F5-1E81-8515-EFDA-3CCC7F418B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 descr="Chart, radar chart&#10;&#10;Description automatically generated">
            <a:extLst>
              <a:ext uri="{FF2B5EF4-FFF2-40B4-BE49-F238E27FC236}">
                <a16:creationId xmlns:a16="http://schemas.microsoft.com/office/drawing/2014/main" id="{9D5E1FF6-1DE7-3EE0-A42B-51F82BA4B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787" y="1049690"/>
            <a:ext cx="3400213" cy="267582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45D89C9-1A41-7F82-FE68-F9D213FA5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7" y="1633575"/>
            <a:ext cx="5483119" cy="150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632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30049-4D86-753F-B4DE-2EF094817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D87C9-7BAD-7CFE-F42F-7F77A1168B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sz="2000" dirty="0"/>
              <a:t>Background</a:t>
            </a:r>
          </a:p>
          <a:p>
            <a:r>
              <a:rPr lang="en-AU" sz="2000" dirty="0"/>
              <a:t>Problem Statement</a:t>
            </a:r>
          </a:p>
          <a:p>
            <a:r>
              <a:rPr lang="en-AU" sz="2000" dirty="0"/>
              <a:t>Problem Formulation</a:t>
            </a:r>
          </a:p>
          <a:p>
            <a:r>
              <a:rPr lang="en-AU" sz="2000" dirty="0"/>
              <a:t>Proposed Solution</a:t>
            </a:r>
          </a:p>
          <a:p>
            <a:r>
              <a:rPr lang="en-AU" sz="2000" dirty="0"/>
              <a:t>Results</a:t>
            </a:r>
          </a:p>
          <a:p>
            <a:r>
              <a:rPr lang="en-AU" sz="2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75043052"/>
      </p:ext>
    </p:extLst>
  </p:cSld>
  <p:clrMapOvr>
    <a:masterClrMapping/>
  </p:clrMapOvr>
</p:sld>
</file>

<file path=ppt/theme/theme1.xml><?xml version="1.0" encoding="utf-8"?>
<a:theme xmlns:a="http://schemas.openxmlformats.org/drawingml/2006/main" name="RMIT_2013_Template_Master_NEW_widescreen">
  <a:themeElements>
    <a:clrScheme name="Custom 1">
      <a:dk1>
        <a:srgbClr val="FFFFFF"/>
      </a:dk1>
      <a:lt1>
        <a:srgbClr val="DC291E"/>
      </a:lt1>
      <a:dk2>
        <a:srgbClr val="000000"/>
      </a:dk2>
      <a:lt2>
        <a:srgbClr val="DC291E"/>
      </a:lt2>
      <a:accent1>
        <a:srgbClr val="DC291E"/>
      </a:accent1>
      <a:accent2>
        <a:srgbClr val="000000"/>
      </a:accent2>
      <a:accent3>
        <a:srgbClr val="DC291E"/>
      </a:accent3>
      <a:accent4>
        <a:srgbClr val="000000"/>
      </a:accent4>
      <a:accent5>
        <a:srgbClr val="DC291E"/>
      </a:accent5>
      <a:accent6>
        <a:srgbClr val="000000"/>
      </a:accent6>
      <a:hlink>
        <a:srgbClr val="0000FF"/>
      </a:hlink>
      <a:folHlink>
        <a:srgbClr val="DC291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157530</TotalTime>
  <Words>753</Words>
  <Application>Microsoft Office PowerPoint</Application>
  <PresentationFormat>On-screen Show (16:9)</PresentationFormat>
  <Paragraphs>100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Helvetica LT Std Light</vt:lpstr>
      <vt:lpstr>Arial</vt:lpstr>
      <vt:lpstr>Calibri</vt:lpstr>
      <vt:lpstr>Calibri Light</vt:lpstr>
      <vt:lpstr>Cambria Math</vt:lpstr>
      <vt:lpstr>Wingdings</vt:lpstr>
      <vt:lpstr>RMIT_2013_Template_Master_NEW_widescreen</vt:lpstr>
      <vt:lpstr>Custom Design</vt:lpstr>
      <vt:lpstr>Distributed Multi-Sensor Control for Multi-Target Tracking</vt:lpstr>
      <vt:lpstr>Multi-Sensor, Multi-Target Tracking Background</vt:lpstr>
      <vt:lpstr>Multi-Sensor Control Background</vt:lpstr>
      <vt:lpstr>Problem Statement</vt:lpstr>
      <vt:lpstr>Problem Formulation</vt:lpstr>
      <vt:lpstr>LMB Filter</vt:lpstr>
      <vt:lpstr>Prediction &amp; Update Steps</vt:lpstr>
      <vt:lpstr>Multi-Sensor Control Formulation</vt:lpstr>
      <vt:lpstr>Proposed Solution</vt:lpstr>
      <vt:lpstr>Proposed Solution</vt:lpstr>
      <vt:lpstr>Coordinate Descent</vt:lpstr>
      <vt:lpstr>Kullback-Leibler Divergence</vt:lpstr>
      <vt:lpstr>Objective Function</vt:lpstr>
      <vt:lpstr>Simulation Scenario</vt:lpstr>
      <vt:lpstr>Scenario Parameters</vt:lpstr>
      <vt:lpstr>Scenario Results</vt:lpstr>
      <vt:lpstr>Scenario Results - OSPA</vt:lpstr>
      <vt:lpstr>Conclusion</vt:lpstr>
      <vt:lpstr>Thank you for listening!</vt:lpstr>
      <vt:lpstr>Target Measurements</vt:lpstr>
      <vt:lpstr>Distributed &amp; Dynamic Sensor Network</vt:lpstr>
      <vt:lpstr>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Intelligence for Safe Vehicle Operation in Industrial Environment</dc:title>
  <dc:creator>Aidan Blair</dc:creator>
  <cp:lastModifiedBy>Aidan Blair</cp:lastModifiedBy>
  <cp:revision>876</cp:revision>
  <cp:lastPrinted>2019-07-12T08:04:53Z</cp:lastPrinted>
  <dcterms:created xsi:type="dcterms:W3CDTF">2018-01-28T21:23:01Z</dcterms:created>
  <dcterms:modified xsi:type="dcterms:W3CDTF">2022-11-22T06:46:07Z</dcterms:modified>
</cp:coreProperties>
</file>